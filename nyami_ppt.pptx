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3131"/>
    <a:srgbClr val="7D0A0A"/>
    <a:srgbClr val="EAD196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D187BE-C4AC-EADE-2007-D31F99C9D648}" v="209" dt="2026-04-16T16:28:51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102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4542C6-11EE-4881-903A-B4A41E4F0B8D}" type="datetimeFigureOut">
              <a:t>2026. 04. 16.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F5430-26D0-4D16-93E7-7AD888AA735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4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Bevezetés</a:t>
            </a:r>
            <a:r>
              <a:rPr lang="en-US" dirty="0">
                <a:ea typeface="Calibri"/>
                <a:cs typeface="Calibri"/>
              </a:rPr>
              <a:t>: Mi a </a:t>
            </a:r>
            <a:r>
              <a:rPr lang="en-US" dirty="0" err="1">
                <a:ea typeface="Calibri"/>
                <a:cs typeface="Calibri"/>
              </a:rPr>
              <a:t>Nyaminet</a:t>
            </a:r>
            <a:r>
              <a:rPr lang="en-US" dirty="0">
                <a:ea typeface="Calibri"/>
                <a:cs typeface="Calibri"/>
              </a:rPr>
              <a:t>- </a:t>
            </a:r>
            <a:r>
              <a:rPr lang="en-US" dirty="0" err="1">
                <a:ea typeface="Calibri"/>
                <a:cs typeface="Calibri"/>
              </a:rPr>
              <a:t>magyará</a:t>
            </a:r>
            <a:r>
              <a:rPr lang="en-US" dirty="0">
                <a:ea typeface="Calibri"/>
                <a:cs typeface="Calibri"/>
              </a:rPr>
              <a:t>zat</a:t>
            </a:r>
          </a:p>
          <a:p>
            <a:r>
              <a:rPr lang="en-US" dirty="0" err="1">
                <a:ea typeface="Calibri"/>
                <a:cs typeface="Calibri"/>
              </a:rPr>
              <a:t>Miért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ezt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választottuk</a:t>
            </a:r>
          </a:p>
          <a:p>
            <a:r>
              <a:rPr lang="en-US" dirty="0">
                <a:ea typeface="Calibri"/>
                <a:cs typeface="Calibri"/>
              </a:rPr>
              <a:t>Mit </a:t>
            </a:r>
            <a:r>
              <a:rPr lang="en-US" dirty="0" err="1">
                <a:ea typeface="Calibri"/>
                <a:cs typeface="Calibri"/>
              </a:rPr>
              <a:t>nyújt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nyaminet</a:t>
            </a:r>
            <a:r>
              <a:rPr lang="en-US" dirty="0">
                <a:ea typeface="Calibri"/>
                <a:cs typeface="Calibri"/>
              </a:rPr>
              <a:t> – </a:t>
            </a:r>
            <a:r>
              <a:rPr lang="en-US" dirty="0" err="1">
                <a:ea typeface="Calibri"/>
                <a:cs typeface="Calibri"/>
              </a:rPr>
              <a:t>bulletpointokat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diába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D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6916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NyamiNet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Közösségi receptmegosztó webalkalmazás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0" y="3520440"/>
            <a:ext cx="4572000" cy="36576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804672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dirty="0">
                <a:solidFill>
                  <a:srgbClr val="E8F1F8"/>
                </a:solidFill>
                <a:latin typeface="Calibri"/>
                <a:ea typeface="Calibri"/>
                <a:cs typeface="Calibri"/>
              </a:rPr>
              <a:t>Fazekas Milán - Kocsis Dániel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BMSzC Bolyai János Műszaki Technikum és Kollégium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4622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Konzulens: Gombos Szabolcs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27F959DC-5C3B-B611-6134-0F7419023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2590" y="66722"/>
            <a:ext cx="1978819" cy="19788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D1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Bevezetés, Motiváció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AC4C7674-058B-5710-F257-A18A5E05B350}"/>
              </a:ext>
            </a:extLst>
          </p:cNvPr>
          <p:cNvSpPr/>
          <p:nvPr/>
        </p:nvSpPr>
        <p:spPr>
          <a:xfrm>
            <a:off x="504394" y="2100677"/>
            <a:ext cx="3931920" cy="1417635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Recept megosztó közösségi média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Ételallergia barát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Recept értékelés lehetősége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Mobil és asztali nézet</a:t>
            </a: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925710BC-D9C0-1B2C-3CE2-E1EEC02DFA79}"/>
              </a:ext>
            </a:extLst>
          </p:cNvPr>
          <p:cNvSpPr/>
          <p:nvPr/>
        </p:nvSpPr>
        <p:spPr>
          <a:xfrm>
            <a:off x="504395" y="1625189"/>
            <a:ext cx="3931920" cy="475488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DB1C654B-07FD-019A-4F23-C56E74B4B5C2}"/>
              </a:ext>
            </a:extLst>
          </p:cNvPr>
          <p:cNvSpPr/>
          <p:nvPr/>
        </p:nvSpPr>
        <p:spPr>
          <a:xfrm>
            <a:off x="614123" y="2173829"/>
            <a:ext cx="3712464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1200" b="1" dirty="0">
              <a:solidFill>
                <a:srgbClr val="BF3131"/>
              </a:solidFill>
              <a:ea typeface="Calibri"/>
              <a:cs typeface="Calibri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88917D65-70A9-C350-E35C-7BB1A06C470E}"/>
              </a:ext>
            </a:extLst>
          </p:cNvPr>
          <p:cNvSpPr/>
          <p:nvPr/>
        </p:nvSpPr>
        <p:spPr>
          <a:xfrm>
            <a:off x="4436315" y="4094384"/>
            <a:ext cx="3566160" cy="1508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1200" dirty="0" err="1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D8FE4DB6-2E89-97AA-3201-A6E6427DE0E0}"/>
              </a:ext>
            </a:extLst>
          </p:cNvPr>
          <p:cNvSpPr txBox="1"/>
          <p:nvPr/>
        </p:nvSpPr>
        <p:spPr>
          <a:xfrm>
            <a:off x="913017" y="1666818"/>
            <a:ext cx="3114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hu-HU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Mi az a </a:t>
            </a:r>
            <a:r>
              <a:rPr lang="hu-HU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NyamiNet</a:t>
            </a:r>
            <a:r>
              <a:rPr lang="hu-HU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5AD2F484-D533-1594-FC6E-FCE1A8960EC0}"/>
              </a:ext>
            </a:extLst>
          </p:cNvPr>
          <p:cNvSpPr/>
          <p:nvPr/>
        </p:nvSpPr>
        <p:spPr>
          <a:xfrm>
            <a:off x="4834459" y="2100677"/>
            <a:ext cx="3931920" cy="1417635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A929C040-1ABA-B12C-1B9B-9144E6C934C6}"/>
              </a:ext>
            </a:extLst>
          </p:cNvPr>
          <p:cNvSpPr/>
          <p:nvPr/>
        </p:nvSpPr>
        <p:spPr>
          <a:xfrm>
            <a:off x="4834460" y="1625189"/>
            <a:ext cx="3931920" cy="475488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F7A97C71-7EDB-B70A-35EE-738D41EA2355}"/>
              </a:ext>
            </a:extLst>
          </p:cNvPr>
          <p:cNvSpPr txBox="1"/>
          <p:nvPr/>
        </p:nvSpPr>
        <p:spPr>
          <a:xfrm>
            <a:off x="4897325" y="2100677"/>
            <a:ext cx="45778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 téma közel áll hozzánk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Valós problémát old meg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Piaci hiány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Könnyen továbbfejleszthető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866C5D73-811A-0272-0258-2F8A3BAF2544}"/>
              </a:ext>
            </a:extLst>
          </p:cNvPr>
          <p:cNvSpPr txBox="1"/>
          <p:nvPr/>
        </p:nvSpPr>
        <p:spPr>
          <a:xfrm>
            <a:off x="5243081" y="1697277"/>
            <a:ext cx="3114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hu-HU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Miért ezt választottuk?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D1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Munkamegosztás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269748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931920" cy="475488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Fazekas Milán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1463040"/>
            <a:ext cx="3712464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 dirty="0">
                <a:solidFill>
                  <a:srgbClr val="BF3131"/>
                </a:solidFill>
                <a:ea typeface="Calibri"/>
                <a:cs typeface="Calibri"/>
              </a:rPr>
              <a:t>Backend </a:t>
            </a:r>
            <a:r>
              <a:rPr lang="en-US" sz="1200" b="1" dirty="0" err="1">
                <a:solidFill>
                  <a:srgbClr val="BF3131"/>
                </a:solidFill>
                <a:ea typeface="Calibri"/>
                <a:cs typeface="Calibri"/>
              </a:rPr>
              <a:t>feljesztő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566160" cy="27432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3566160" cy="1508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Backend (Express, TypeScript), </a:t>
            </a:r>
            <a:r>
              <a:rPr lang="en-US" sz="12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adatbázis</a:t>
            </a:r>
            <a:r>
              <a:rPr lang="en-US" sz="12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tervezés</a:t>
            </a:r>
            <a:endParaRPr lang="en-US" sz="1200" dirty="0" err="1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914400"/>
            <a:ext cx="3931920" cy="269748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3931920" cy="475488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4846320" y="9144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Kocsis Dániel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56048" y="1463040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fejlesztő</a:t>
            </a:r>
            <a:endParaRPr lang="en-US" sz="1200" dirty="0">
              <a:solidFill>
                <a:srgbClr val="BF313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0" y="1874520"/>
            <a:ext cx="3566160" cy="27432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5029200" y="1965960"/>
            <a:ext cx="3566160" cy="1508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React </a:t>
            </a:r>
            <a:r>
              <a:rPr lang="en-US" sz="12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komponensek</a:t>
            </a:r>
            <a:r>
              <a:rPr lang="en-US" sz="12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  Cypress E2E </a:t>
            </a:r>
            <a:r>
              <a:rPr lang="en-US" sz="12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tesztek</a:t>
            </a:r>
            <a:endParaRPr lang="en-US" sz="12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822960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594360" y="3767328"/>
            <a:ext cx="79552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D4037"/>
                </a:solidFill>
                <a:latin typeface="Calibri"/>
                <a:ea typeface="Calibri"/>
                <a:cs typeface="Calibri"/>
              </a:rPr>
              <a:t>  </a:t>
            </a:r>
            <a:r>
              <a:rPr lang="en-US" sz="1100" i="1" dirty="0" err="1">
                <a:solidFill>
                  <a:srgbClr val="5D4037"/>
                </a:solidFill>
                <a:latin typeface="Calibri"/>
                <a:ea typeface="Calibri"/>
                <a:cs typeface="Calibri"/>
              </a:rPr>
              <a:t>Kihívás</a:t>
            </a:r>
            <a:r>
              <a:rPr lang="en-US" sz="1100" i="1" dirty="0">
                <a:solidFill>
                  <a:srgbClr val="5D4037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100" i="1" dirty="0" err="1">
                <a:solidFill>
                  <a:srgbClr val="5D4037"/>
                </a:solidFill>
                <a:latin typeface="Calibri"/>
                <a:ea typeface="Calibri"/>
                <a:cs typeface="Calibri"/>
              </a:rPr>
              <a:t>verziókezelés</a:t>
            </a:r>
            <a:r>
              <a:rPr lang="en-US" sz="1100" i="1" dirty="0">
                <a:solidFill>
                  <a:srgbClr val="5D40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dirty="0" err="1">
                <a:solidFill>
                  <a:srgbClr val="5D4037"/>
                </a:solidFill>
                <a:latin typeface="Calibri"/>
                <a:ea typeface="Calibri"/>
                <a:cs typeface="Calibri"/>
              </a:rPr>
              <a:t>és</a:t>
            </a:r>
            <a:r>
              <a:rPr lang="en-US" sz="1100" i="1" dirty="0">
                <a:solidFill>
                  <a:srgbClr val="5D40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i="1" dirty="0" err="1">
                <a:solidFill>
                  <a:srgbClr val="5D4037"/>
                </a:solidFill>
                <a:latin typeface="Calibri"/>
                <a:ea typeface="Calibri"/>
                <a:cs typeface="Calibri"/>
              </a:rPr>
              <a:t>kommunikáci</a:t>
            </a:r>
            <a:r>
              <a:rPr lang="hu-HU" sz="1100" i="1" dirty="0">
                <a:solidFill>
                  <a:srgbClr val="5D4037"/>
                </a:solidFill>
                <a:latin typeface="Calibri"/>
                <a:ea typeface="Calibri"/>
                <a:cs typeface="Calibri"/>
              </a:rPr>
              <a:t>ó a téli szünet során</a:t>
            </a:r>
            <a:endParaRPr lang="en-US" sz="11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365760" y="47960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D1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Tervezés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Technológiai Stack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737360" cy="658368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914400"/>
            <a:ext cx="6492240" cy="658368"/>
          </a:xfrm>
          <a:prstGeom prst="rect">
            <a:avLst/>
          </a:prstGeom>
          <a:solidFill>
            <a:srgbClr val="EEEEEE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2377440" y="91440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·  Vite 7  ·  React Router DOM 7  ·  Bootstrap 5  ·  Cypress 15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792224"/>
            <a:ext cx="1737360" cy="658368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57200" y="179222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1792224"/>
            <a:ext cx="6492240" cy="658368"/>
          </a:xfrm>
          <a:prstGeom prst="rect">
            <a:avLst/>
          </a:prstGeom>
          <a:solidFill>
            <a:srgbClr val="EEEEEE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2377440" y="1792224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Express 5  ·  TypeScript 5  ·  JWT 9  ·  bcrypt 6  ·  Multer 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1737360" cy="658368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457200" y="267004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94560" y="2670048"/>
            <a:ext cx="6492240" cy="658368"/>
          </a:xfrm>
          <a:prstGeom prst="rect">
            <a:avLst/>
          </a:prstGeom>
          <a:solidFill>
            <a:srgbClr val="EEEEEE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2377440" y="2670048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·  utf8mb4 (magyar kolláció) 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1737360" cy="658368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173736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Segítő</a:t>
            </a: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programok</a:t>
            </a:r>
            <a:endParaRPr lang="en-US" sz="1400" dirty="0" err="1"/>
          </a:p>
        </p:txBody>
      </p:sp>
      <p:sp>
        <p:nvSpPr>
          <p:cNvPr id="20" name="Shape 18"/>
          <p:cNvSpPr/>
          <p:nvPr/>
        </p:nvSpPr>
        <p:spPr>
          <a:xfrm>
            <a:off x="2194560" y="3547872"/>
            <a:ext cx="6492240" cy="658368"/>
          </a:xfrm>
          <a:prstGeom prst="rect">
            <a:avLst/>
          </a:prstGeom>
          <a:solidFill>
            <a:srgbClr val="EEEEEE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2377440" y="3547872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Docker Compose  ·  Git &amp; GitHub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365760" y="47960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D1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Tervezés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Irodalomkutatás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Felhasznált irodalom és dokumentációk</a:t>
            </a:r>
            <a:endParaRPr lang="en-US" sz="1400" dirty="0">
              <a:solidFill>
                <a:srgbClr val="BF313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384048" cy="420624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" y="1261872"/>
            <a:ext cx="7845552" cy="420624"/>
          </a:xfrm>
          <a:prstGeom prst="rect">
            <a:avLst/>
          </a:prstGeom>
          <a:solidFill>
            <a:srgbClr val="EEEEEE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987552" y="126187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hivatalos dokumentáció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0" y="12618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react.dev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384048" cy="420624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1828800"/>
            <a:ext cx="7845552" cy="420624"/>
          </a:xfrm>
          <a:prstGeom prst="rect">
            <a:avLst/>
          </a:prstGeom>
          <a:solidFill>
            <a:srgbClr val="EEEEEE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987552" y="182880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dokumentáció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182880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expressjs.com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95728"/>
            <a:ext cx="384048" cy="420624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457200" y="2395728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2395728"/>
            <a:ext cx="7845552" cy="420624"/>
          </a:xfrm>
          <a:prstGeom prst="rect">
            <a:avLst/>
          </a:prstGeom>
          <a:solidFill>
            <a:srgbClr val="EEEEEE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987552" y="2395728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referencia kézikönyv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239572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dev.mysql.com/doc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62656"/>
            <a:ext cx="384048" cy="420624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457200" y="2962656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1248" y="2962656"/>
            <a:ext cx="7845552" cy="420624"/>
          </a:xfrm>
          <a:prstGeom prst="rect">
            <a:avLst/>
          </a:prstGeom>
          <a:solidFill>
            <a:srgbClr val="EEEEEE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987552" y="2962656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tesztelési keretrendszer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296265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docs.cypress.io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529584"/>
            <a:ext cx="384048" cy="420624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457200" y="352958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" y="3529584"/>
            <a:ext cx="7845552" cy="420624"/>
          </a:xfrm>
          <a:prstGeom prst="rect">
            <a:avLst/>
          </a:prstGeom>
          <a:solidFill>
            <a:srgbClr val="EEEEEE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987552" y="3529584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hivatalos dokumentáció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0" y="352958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docs.docker.com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096512"/>
            <a:ext cx="384048" cy="420624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31"/>
          <p:cNvSpPr/>
          <p:nvPr/>
        </p:nvSpPr>
        <p:spPr>
          <a:xfrm>
            <a:off x="457200" y="4096512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1248" y="4096512"/>
            <a:ext cx="7845552" cy="420624"/>
          </a:xfrm>
          <a:prstGeom prst="rect">
            <a:avLst/>
          </a:prstGeom>
          <a:solidFill>
            <a:srgbClr val="EEEEEE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5" name="Text 33"/>
          <p:cNvSpPr/>
          <p:nvPr/>
        </p:nvSpPr>
        <p:spPr>
          <a:xfrm>
            <a:off x="987552" y="4096512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specifikáció  ·  bcrypt npm  ·  Multer npm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0" y="40965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jwt.io / npmjs.com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8" name="Text 36"/>
          <p:cNvSpPr/>
          <p:nvPr/>
        </p:nvSpPr>
        <p:spPr>
          <a:xfrm>
            <a:off x="365760" y="47960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D1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Funkciók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Backend &amp; Architektúra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023360" cy="420624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Funkcionális követelmények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402336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Regisztráció, bejelentkezés, JWT hitelesítés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1911096"/>
            <a:ext cx="402336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502920" y="191109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Receptek szűrése, keresése, oldalazás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402336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Recept feltöltés képpel (max 5 MB)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099816"/>
            <a:ext cx="402336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502920" y="30998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Like/Dislike, komment, mentés, report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94176"/>
            <a:ext cx="402336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/>
          <p:nvPr/>
        </p:nvSpPr>
        <p:spPr>
          <a:xfrm>
            <a:off x="502920" y="36941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Admin: bejelentések kezelése, tiltás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804672"/>
            <a:ext cx="4023360" cy="420624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7"/>
          <p:cNvSpPr/>
          <p:nvPr/>
        </p:nvSpPr>
        <p:spPr>
          <a:xfrm>
            <a:off x="4754880" y="804672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funkcionális követelmények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316736"/>
            <a:ext cx="402336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4892040" y="131673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Betöltési idő ≤ 2 m</a:t>
            </a:r>
            <a:r>
              <a:rPr lang="hu-HU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1911096"/>
            <a:ext cx="402336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4892040" y="191109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bcrypt jelszótitkosítás, 10 </a:t>
            </a:r>
            <a:r>
              <a:rPr lang="en-US" sz="11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körös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sózás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505456"/>
            <a:ext cx="402336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4892040" y="25054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token</a:t>
            </a:r>
            <a:r>
              <a:rPr lang="hu-HU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 </a:t>
            </a:r>
            <a:r>
              <a:rPr lang="en-US" sz="11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napig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érvényes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099816"/>
            <a:ext cx="402336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5"/>
          <p:cNvSpPr/>
          <p:nvPr/>
        </p:nvSpPr>
        <p:spPr>
          <a:xfrm>
            <a:off x="4892040" y="309981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Képfeltöltés: JPEG/PNG/GIF/WebP, ≤5 MB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3694176"/>
            <a:ext cx="402336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Text 27"/>
          <p:cNvSpPr/>
          <p:nvPr/>
        </p:nvSpPr>
        <p:spPr>
          <a:xfrm>
            <a:off x="4892040" y="36941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Compose</a:t>
            </a:r>
            <a:r>
              <a:rPr lang="hu-HU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program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</a:t>
            </a:r>
            <a:r>
              <a:rPr lang="en-US" sz="11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paranccsal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indítható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365760" y="47960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D1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Funkciók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Főbb oldalak és komponensek</a:t>
            </a:r>
            <a:endParaRPr lang="en-US" sz="1400" dirty="0">
              <a:solidFill>
                <a:srgbClr val="BF313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685800" cy="457200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hu-H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2618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Főoldal (bejelentkezett / vendég)</a:t>
            </a:r>
            <a:endParaRPr lang="en-US" sz="1200" dirty="0">
              <a:solidFill>
                <a:srgbClr val="BF313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34440" y="1499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Receptkártyák, sidebar szűrők, keresőmező, oldalazás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837944"/>
            <a:ext cx="685800" cy="457200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457200" y="1837944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18379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 részletes oldal</a:t>
            </a:r>
            <a:endParaRPr lang="en-US" sz="1200" dirty="0">
              <a:solidFill>
                <a:srgbClr val="BF313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4440" y="2166797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Kép, hozzávalók, lépések, like/dislike, komment, mentés, report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685800" cy="457200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/>
          <p:nvPr/>
        </p:nvSpPr>
        <p:spPr>
          <a:xfrm>
            <a:off x="457200" y="2414016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24140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B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Feltöltés</a:t>
            </a:r>
            <a:endParaRPr lang="en-US" sz="1200" dirty="0">
              <a:solidFill>
                <a:srgbClr val="BF313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2751151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Alap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adatok</a:t>
            </a:r>
            <a:r>
              <a:rPr lang="hu-HU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Kategóriák</a:t>
            </a:r>
            <a:r>
              <a:rPr lang="hu-HU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Hozzávalók</a:t>
            </a:r>
            <a:r>
              <a:rPr lang="hu-HU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Lépések &amp; preferenciák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90088"/>
            <a:ext cx="685800" cy="457200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57200" y="299008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29900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oldal</a:t>
            </a:r>
            <a:endParaRPr lang="en-US" sz="1200" dirty="0">
              <a:solidFill>
                <a:srgbClr val="BF313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34440" y="32278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Jelszóváltás, étkezési preferenciák, sötét mód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685800" cy="457200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felület</a:t>
            </a:r>
            <a:endParaRPr lang="en-US" sz="1200" dirty="0">
              <a:solidFill>
                <a:srgbClr val="BF313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234440" y="38039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Bejelentett receptek listája, jóváhagyás / törlés / tiltás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804672"/>
            <a:ext cx="36576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8"/>
          <p:cNvSpPr/>
          <p:nvPr/>
        </p:nvSpPr>
        <p:spPr>
          <a:xfrm>
            <a:off x="365760" y="47960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31" name="Kép 30">
            <a:extLst>
              <a:ext uri="{FF2B5EF4-FFF2-40B4-BE49-F238E27FC236}">
                <a16:creationId xmlns:a16="http://schemas.microsoft.com/office/drawing/2014/main" id="{4F88DCDB-FAA7-5075-2365-C4BB93734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346029"/>
            <a:ext cx="4214813" cy="23527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D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1683067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931795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Élő bemutató – az alkalmazás működése</a:t>
            </a:r>
            <a:endParaRPr lang="en-US" sz="1800" dirty="0">
              <a:solidFill>
                <a:srgbClr val="EEEEEE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58E621F-6B52-A133-2839-A94BB20E77F7}"/>
              </a:ext>
            </a:extLst>
          </p:cNvPr>
          <p:cNvSpPr/>
          <p:nvPr/>
        </p:nvSpPr>
        <p:spPr>
          <a:xfrm>
            <a:off x="2286000" y="2890933"/>
            <a:ext cx="4572000" cy="36576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D1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Összegzés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Elért eredmények</a:t>
            </a:r>
            <a:endParaRPr lang="en-US" sz="1400" dirty="0">
              <a:solidFill>
                <a:srgbClr val="BF313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92608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2344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értékű közösségi receptplatform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28216"/>
            <a:ext cx="292608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457200" y="1728216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7282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funkcionális + 13 nem funkcionális követelmény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21992"/>
            <a:ext cx="292608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457200" y="2221992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221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React SPA architektúra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715768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5483" y="2712587"/>
            <a:ext cx="292608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/>
          <p:nvPr/>
        </p:nvSpPr>
        <p:spPr>
          <a:xfrm>
            <a:off x="465483" y="2712587"/>
            <a:ext cx="292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1243" y="2712587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alapú telepítés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79115" y="1078992"/>
            <a:ext cx="36576" cy="3383280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/>
          <p:nvPr/>
        </p:nvSpPr>
        <p:spPr>
          <a:xfrm>
            <a:off x="4846320" y="8046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3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Továbbfejlesztési lehetőségek</a:t>
            </a:r>
            <a:endParaRPr lang="en-US" sz="1400" dirty="0">
              <a:solidFill>
                <a:srgbClr val="BF313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1234440"/>
            <a:ext cx="256032" cy="292608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/>
          <p:nvPr/>
        </p:nvSpPr>
        <p:spPr>
          <a:xfrm>
            <a:off x="4846320" y="123444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12344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r>
              <a:rPr lang="hu-HU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offline használat, push értesítés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1618488"/>
            <a:ext cx="256032" cy="292608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6"/>
          <p:cNvSpPr/>
          <p:nvPr/>
        </p:nvSpPr>
        <p:spPr>
          <a:xfrm>
            <a:off x="4846320" y="161848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16184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 szerkesztése (ne csak törlés)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2002536"/>
            <a:ext cx="256032" cy="292608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9"/>
          <p:cNvSpPr/>
          <p:nvPr/>
        </p:nvSpPr>
        <p:spPr>
          <a:xfrm>
            <a:off x="4846320" y="20025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200253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statisztikákkal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46320" y="2386584"/>
            <a:ext cx="256032" cy="292608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32"/>
          <p:cNvSpPr/>
          <p:nvPr/>
        </p:nvSpPr>
        <p:spPr>
          <a:xfrm>
            <a:off x="4846320" y="238658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23865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Felhasználói profil (kép, követés)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46320" y="2770632"/>
            <a:ext cx="256032" cy="292608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 35"/>
          <p:cNvSpPr/>
          <p:nvPr/>
        </p:nvSpPr>
        <p:spPr>
          <a:xfrm>
            <a:off x="4846320" y="277063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2770632"/>
            <a:ext cx="352044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Felhő</a:t>
            </a:r>
            <a:r>
              <a:rPr lang="en-US" sz="11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alapú</a:t>
            </a:r>
            <a:r>
              <a:rPr lang="en-US" sz="11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telepítés</a:t>
            </a:r>
            <a:r>
              <a:rPr lang="en-US" sz="11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(AWS)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846320" y="3154680"/>
            <a:ext cx="256032" cy="292608"/>
          </a:xfrm>
          <a:prstGeom prst="rect">
            <a:avLst/>
          </a:prstGeom>
          <a:solidFill>
            <a:srgbClr val="BF3131"/>
          </a:solidFill>
          <a:ln>
            <a:solidFill>
              <a:srgbClr val="BF313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31546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Többnyelvű támogatás (i18n)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0" y="4796028"/>
            <a:ext cx="9144000" cy="347472"/>
          </a:xfrm>
          <a:prstGeom prst="rect">
            <a:avLst/>
          </a:prstGeom>
          <a:solidFill>
            <a:srgbClr val="7D0A0A"/>
          </a:solidFill>
          <a:ln w="12700">
            <a:solidFill>
              <a:srgbClr val="7D0A0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3" name="Text 41"/>
          <p:cNvSpPr/>
          <p:nvPr/>
        </p:nvSpPr>
        <p:spPr>
          <a:xfrm>
            <a:off x="365760" y="47960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69EF0565-FE2B-4F16-B1C7-581546F1FB56}"/>
              </a:ext>
            </a:extLst>
          </p:cNvPr>
          <p:cNvSpPr/>
          <p:nvPr/>
        </p:nvSpPr>
        <p:spPr>
          <a:xfrm>
            <a:off x="4846320" y="3552245"/>
            <a:ext cx="256032" cy="292608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B42F1E40-F902-B537-2F56-43C267FB953C}"/>
              </a:ext>
            </a:extLst>
          </p:cNvPr>
          <p:cNvSpPr/>
          <p:nvPr/>
        </p:nvSpPr>
        <p:spPr>
          <a:xfrm>
            <a:off x="4838037" y="3552245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155D12EE-B1A4-6295-D2FF-8539656AB55F}"/>
              </a:ext>
            </a:extLst>
          </p:cNvPr>
          <p:cNvSpPr/>
          <p:nvPr/>
        </p:nvSpPr>
        <p:spPr>
          <a:xfrm>
            <a:off x="5166360" y="3552245"/>
            <a:ext cx="352044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Lépések</a:t>
            </a:r>
            <a:r>
              <a:rPr lang="en-US" sz="11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narrálása</a:t>
            </a:r>
            <a:r>
              <a:rPr lang="en-US" sz="11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mesterséges</a:t>
            </a:r>
            <a:r>
              <a:rPr lang="en-US" sz="11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intelligenciával</a:t>
            </a:r>
            <a:endParaRPr lang="en-US" sz="1150" dirty="0" err="1">
              <a:solidFill>
                <a:srgbClr val="1A1A2E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D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214723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Köszönjük a figyelmet!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286000" y="2229707"/>
            <a:ext cx="4572000" cy="36576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48640" y="1580483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>
              <a:solidFill>
                <a:srgbClr val="EAD196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266283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NyamiNet</a:t>
            </a:r>
            <a:r>
              <a:rPr lang="en-US" sz="13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13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Közösségi receptmegosztó webalkalmazás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77763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Fazekas Milán  ·  Kocsis Dániel</a:t>
            </a:r>
            <a:endParaRPr lang="en-US" sz="1300" dirty="0">
              <a:solidFill>
                <a:srgbClr val="EEEEEE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025235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BMSzC Bolyai János Műszaki Technikum és Kollégium  ·  Konzulens: Gombos Szabolcs</a:t>
            </a:r>
            <a:endParaRPr lang="en-US" sz="1100" dirty="0">
              <a:solidFill>
                <a:srgbClr val="EEEEEE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26080" y="3500723"/>
            <a:ext cx="3291840" cy="384048"/>
          </a:xfrm>
          <a:prstGeom prst="rect">
            <a:avLst/>
          </a:prstGeom>
          <a:solidFill>
            <a:srgbClr val="BF3131"/>
          </a:solidFill>
          <a:ln w="12700">
            <a:solidFill>
              <a:srgbClr val="BF313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Text 9"/>
          <p:cNvSpPr/>
          <p:nvPr/>
        </p:nvSpPr>
        <p:spPr>
          <a:xfrm>
            <a:off x="2926080" y="3500723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github.com/Milan2006101/NyamiNet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534</Words>
  <Application>Microsoft Office PowerPoint</Application>
  <PresentationFormat>Diavetítés a képernyőre (16:9 oldalarány)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NyamiNet Prezentáció</dc:title>
  <dc:subject>PptxGenJS Presentation</dc:subject>
  <dc:creator>PptxGenJS</dc:creator>
  <cp:lastModifiedBy>EDU_ODAS_5106@diakoffice.onmicrosoft.com</cp:lastModifiedBy>
  <cp:revision>78</cp:revision>
  <dcterms:created xsi:type="dcterms:W3CDTF">2026-04-15T08:35:32Z</dcterms:created>
  <dcterms:modified xsi:type="dcterms:W3CDTF">2026-04-16T17:33:53Z</dcterms:modified>
</cp:coreProperties>
</file>